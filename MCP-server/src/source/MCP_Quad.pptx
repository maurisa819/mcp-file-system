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3"/>
  </p:notesMasterIdLst>
  <p:handoutMasterIdLst>
    <p:handoutMasterId r:id="rId4"/>
  </p:handoutMasterIdLst>
  <p:sldIdLst>
    <p:sldId id="2149" r:id="rId2"/>
  </p:sldIdLst>
  <p:sldSz cx="12192000" cy="6858000"/>
  <p:notesSz cx="7010400" cy="92964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  <p15:guide id="3" orient="horz" pos="3888" userDrawn="1">
          <p15:clr>
            <a:srgbClr val="A4A3A4"/>
          </p15:clr>
        </p15:guide>
        <p15:guide id="4" pos="456" userDrawn="1">
          <p15:clr>
            <a:srgbClr val="A4A3A4"/>
          </p15:clr>
        </p15:guide>
        <p15:guide id="5" pos="72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162B"/>
    <a:srgbClr val="00B14F"/>
    <a:srgbClr val="7C6569"/>
    <a:srgbClr val="5E7361"/>
    <a:srgbClr val="002E6D"/>
    <a:srgbClr val="272626"/>
    <a:srgbClr val="B2B7BB"/>
    <a:srgbClr val="C78A3D"/>
    <a:srgbClr val="C4122F"/>
    <a:srgbClr val="343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86"/>
    <p:restoredTop sz="78482"/>
  </p:normalViewPr>
  <p:slideViewPr>
    <p:cSldViewPr snapToGrid="0">
      <p:cViewPr>
        <p:scale>
          <a:sx n="145" d="100"/>
          <a:sy n="145" d="100"/>
        </p:scale>
        <p:origin x="120" y="-920"/>
      </p:cViewPr>
      <p:guideLst>
        <p:guide orient="horz" pos="720"/>
        <p:guide orient="horz" pos="960"/>
        <p:guide orient="horz" pos="3888"/>
        <p:guide pos="456"/>
        <p:guide pos="7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2" d="100"/>
          <a:sy n="102" d="100"/>
        </p:scale>
        <p:origin x="4304" y="17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50449CD-19C8-44C0-A36B-1667EDB1312B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5C7A2D6-6A74-4789-8A27-67CDFFE8E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79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14C511E-AA3B-43E3-B946-406AB5E4C4BB}" type="datetimeFigureOut">
              <a:rPr lang="en-US" smtClean="0"/>
              <a:pPr/>
              <a:t>1/22/26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8E4A049-8685-4352-9DC2-828F08FD5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5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00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4289" y="113493"/>
            <a:ext cx="10515600" cy="564424"/>
          </a:xfrm>
        </p:spPr>
        <p:txBody>
          <a:bodyPr/>
          <a:lstStyle>
            <a:lvl1pPr>
              <a:lnSpc>
                <a:spcPts val="3800"/>
              </a:lnSpc>
              <a:defRPr/>
            </a:lvl1pPr>
          </a:lstStyle>
          <a:p>
            <a:r>
              <a:rPr lang="en-US" dirty="0"/>
              <a:t>Click to edit Project Proposal title</a:t>
            </a:r>
          </a:p>
        </p:txBody>
      </p:sp>
      <p:sp>
        <p:nvSpPr>
          <p:cNvPr id="36" name="Picture Placeholder 29">
            <a:extLst>
              <a:ext uri="{FF2B5EF4-FFF2-40B4-BE49-F238E27FC236}">
                <a16:creationId xmlns:a16="http://schemas.microsoft.com/office/drawing/2014/main" id="{5244BC53-C119-4F58-759C-4315A0FAAA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4289" y="1270510"/>
            <a:ext cx="5551992" cy="236763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7" name="Picture Placeholder 29">
            <a:extLst>
              <a:ext uri="{FF2B5EF4-FFF2-40B4-BE49-F238E27FC236}">
                <a16:creationId xmlns:a16="http://schemas.microsoft.com/office/drawing/2014/main" id="{A49D9818-2411-344C-A56B-875F98535D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289" y="4121618"/>
            <a:ext cx="5551992" cy="23919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8" name="Picture Placeholder 29">
            <a:extLst>
              <a:ext uri="{FF2B5EF4-FFF2-40B4-BE49-F238E27FC236}">
                <a16:creationId xmlns:a16="http://schemas.microsoft.com/office/drawing/2014/main" id="{29DEAC6C-0B95-082C-AE64-4DB58BBA1A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97150" y="1271895"/>
            <a:ext cx="5560860" cy="23662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9" name="Picture Placeholder 29">
            <a:extLst>
              <a:ext uri="{FF2B5EF4-FFF2-40B4-BE49-F238E27FC236}">
                <a16:creationId xmlns:a16="http://schemas.microsoft.com/office/drawing/2014/main" id="{563B06A4-C363-484C-CF9B-67A85842D4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7150" y="4121618"/>
            <a:ext cx="5579532" cy="239591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A9635-FFED-DDFD-E0E2-01238E4A467E}"/>
              </a:ext>
            </a:extLst>
          </p:cNvPr>
          <p:cNvSpPr txBox="1"/>
          <p:nvPr userDrawn="1"/>
        </p:nvSpPr>
        <p:spPr>
          <a:xfrm>
            <a:off x="8497615" y="734193"/>
            <a:ext cx="3484156" cy="34786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r"/>
            <a:r>
              <a:rPr lang="en-US" sz="1600" dirty="0">
                <a:solidFill>
                  <a:srgbClr val="AB162B"/>
                </a:solidFill>
              </a:rPr>
              <a:t>CS 587 / CS 588 Capstone Experience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86A63B-7D79-C8DB-CA74-E34D8BCE19EA}"/>
              </a:ext>
            </a:extLst>
          </p:cNvPr>
          <p:cNvSpPr/>
          <p:nvPr userDrawn="1"/>
        </p:nvSpPr>
        <p:spPr>
          <a:xfrm>
            <a:off x="294289" y="1078824"/>
            <a:ext cx="11582400" cy="45719"/>
          </a:xfrm>
          <a:prstGeom prst="rect">
            <a:avLst/>
          </a:prstGeom>
          <a:solidFill>
            <a:srgbClr val="AB1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5" name="Picture 4" descr="A red letter w on a black background&#10;&#10;Description automatically generated">
            <a:extLst>
              <a:ext uri="{FF2B5EF4-FFF2-40B4-BE49-F238E27FC236}">
                <a16:creationId xmlns:a16="http://schemas.microsoft.com/office/drawing/2014/main" id="{B0E9D22C-8DBE-F6D9-575F-63A8A0CE8C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984" y="113493"/>
            <a:ext cx="1428706" cy="46194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82F5-B4FB-F51A-3DA1-1DCB79EA5A2A}"/>
              </a:ext>
            </a:extLst>
          </p:cNvPr>
          <p:cNvCxnSpPr>
            <a:cxnSpLocks/>
          </p:cNvCxnSpPr>
          <p:nvPr userDrawn="1"/>
        </p:nvCxnSpPr>
        <p:spPr>
          <a:xfrm>
            <a:off x="6071735" y="1192688"/>
            <a:ext cx="0" cy="5412392"/>
          </a:xfrm>
          <a:prstGeom prst="line">
            <a:avLst/>
          </a:prstGeom>
          <a:solidFill>
            <a:srgbClr val="AB162B"/>
          </a:solidFill>
          <a:ln w="41275">
            <a:solidFill>
              <a:srgbClr val="AB1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3C0EE2-AD9D-9E26-15ED-4B2C5D7B29AF}"/>
              </a:ext>
            </a:extLst>
          </p:cNvPr>
          <p:cNvCxnSpPr/>
          <p:nvPr userDrawn="1"/>
        </p:nvCxnSpPr>
        <p:spPr>
          <a:xfrm>
            <a:off x="294289" y="3871617"/>
            <a:ext cx="11582400" cy="0"/>
          </a:xfrm>
          <a:prstGeom prst="line">
            <a:avLst/>
          </a:prstGeom>
          <a:ln w="34925">
            <a:solidFill>
              <a:srgbClr val="AB1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5FEEAF-FAB4-B705-FA09-6636EEE528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3852" y="769650"/>
            <a:ext cx="8204200" cy="346075"/>
          </a:xfrm>
        </p:spPr>
        <p:txBody>
          <a:bodyPr tIns="0"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Team: Click to add list of team members</a:t>
            </a:r>
          </a:p>
        </p:txBody>
      </p:sp>
    </p:spTree>
    <p:extLst>
      <p:ext uri="{BB962C8B-B14F-4D97-AF65-F5344CB8AC3E}">
        <p14:creationId xmlns:p14="http://schemas.microsoft.com/office/powerpoint/2010/main" val="5194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B82453-36A6-884D-4560-05A38EC17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1CD71-25A1-B3E5-88CB-B81D4B723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90F54-63CD-72F4-618A-3724747AD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02D33-412C-3242-AD52-BBD1D79ABB3F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3BB1D-B5ED-EE2E-993C-AA756663F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D5B85-F5CD-195A-C60C-31644CA86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0ED4F-219D-AD47-B27D-7189EC293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7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AA4A-C8FC-F243-A15B-A9F573E9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Context Protocol Integration with Service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415C4-2417-81B3-51A9-A0396D6BA3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4289" y="1270510"/>
            <a:ext cx="2672647" cy="236763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000" b="1" dirty="0"/>
              <a:t>Project Description:</a:t>
            </a:r>
          </a:p>
          <a:p>
            <a:pPr marL="0" indent="0">
              <a:buNone/>
            </a:pPr>
            <a:r>
              <a:rPr lang="en-US" sz="1800" b="1" dirty="0"/>
              <a:t>Create a Model Context Protocol (MCP)–based integration for a service.</a:t>
            </a:r>
            <a:br>
              <a:rPr lang="en-US" sz="1800" dirty="0"/>
            </a:br>
            <a:r>
              <a:rPr lang="en-US" sz="1800" dirty="0"/>
              <a:t>The project will include:</a:t>
            </a:r>
          </a:p>
          <a:p>
            <a:r>
              <a:rPr lang="en-US" sz="1800" dirty="0"/>
              <a:t>An </a:t>
            </a:r>
            <a:r>
              <a:rPr lang="en-US" sz="1800" b="1" dirty="0"/>
              <a:t>MCP server</a:t>
            </a:r>
            <a:r>
              <a:rPr lang="en-US" sz="1800" dirty="0"/>
              <a:t> to interface with the service</a:t>
            </a:r>
          </a:p>
          <a:p>
            <a:r>
              <a:rPr lang="en-US" sz="1800" dirty="0"/>
              <a:t>An </a:t>
            </a:r>
            <a:r>
              <a:rPr lang="en-US" sz="1800" b="1" dirty="0"/>
              <a:t>AI agent</a:t>
            </a:r>
            <a:r>
              <a:rPr lang="en-US" sz="1800" dirty="0"/>
              <a:t> capable of handling tasks autonomously without direct user interaction</a:t>
            </a:r>
          </a:p>
          <a:p>
            <a:r>
              <a:rPr lang="en-US" sz="1800" dirty="0"/>
              <a:t>A </a:t>
            </a:r>
            <a:r>
              <a:rPr lang="en-US" sz="1800" b="1" dirty="0"/>
              <a:t>chat-based prompt interface</a:t>
            </a:r>
            <a:r>
              <a:rPr lang="en-US" sz="1800" dirty="0"/>
              <a:t> to enable interactive use in a structured and meaningful way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E7FA0C-C77D-1C22-A279-525BF79D2E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Approach: </a:t>
            </a:r>
          </a:p>
          <a:p>
            <a:pPr marL="0" indent="0">
              <a:buNone/>
            </a:pPr>
            <a:r>
              <a:rPr lang="en-US" sz="1200" dirty="0"/>
              <a:t>We will create an MCP to handle interactions with the service. Once that is complete, we will layer on an AI Agent for autonomous interactions and finally ad a chat interface for user interaction</a:t>
            </a:r>
          </a:p>
          <a:p>
            <a:pPr marL="0" indent="0">
              <a:buNone/>
            </a:pPr>
            <a:r>
              <a:rPr lang="en-US" sz="2000" b="1" dirty="0"/>
              <a:t>Deliverables:</a:t>
            </a:r>
          </a:p>
          <a:p>
            <a:r>
              <a:rPr lang="en-US" sz="1200" dirty="0"/>
              <a:t>MCP Server</a:t>
            </a:r>
          </a:p>
          <a:p>
            <a:r>
              <a:rPr lang="en-US" sz="1200" dirty="0"/>
              <a:t>AI Agent</a:t>
            </a:r>
          </a:p>
          <a:p>
            <a:r>
              <a:rPr lang="en-US" sz="1200" dirty="0"/>
              <a:t>Chat interface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AF71C40-C5E3-F5FD-1B58-874BF39065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97150" y="1271896"/>
            <a:ext cx="5560860" cy="241191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000" b="1" dirty="0"/>
              <a:t>Need / Significance:</a:t>
            </a:r>
          </a:p>
          <a:p>
            <a:r>
              <a:rPr lang="en-US" sz="1800" dirty="0"/>
              <a:t>This project matters because it creates a standardized, scalable way for autonomous AI agents to reliably interact with real services while still allowing humans to guide and oversee complex tasks through a simple chat interface.</a:t>
            </a:r>
          </a:p>
          <a:p>
            <a:r>
              <a:rPr lang="en-US" sz="1800" dirty="0"/>
              <a:t>Engineers, Product, DevOps, and others</a:t>
            </a:r>
          </a:p>
          <a:p>
            <a:pPr marL="0" indent="0">
              <a:buNone/>
            </a:pPr>
            <a:r>
              <a:rPr lang="en-US" sz="2000" b="1" dirty="0"/>
              <a:t>Project Objectives:</a:t>
            </a:r>
          </a:p>
          <a:p>
            <a:r>
              <a:rPr lang="en-US" sz="1800" dirty="0"/>
              <a:t>Build an MCP that can integrate with a service directly and through the use of an AI Agent for autonomous interaction.</a:t>
            </a:r>
          </a:p>
          <a:p>
            <a:pPr marL="0" indent="0">
              <a:buNone/>
            </a:pPr>
            <a:r>
              <a:rPr lang="en-US" sz="2100" b="1" dirty="0"/>
              <a:t>Measures:</a:t>
            </a:r>
          </a:p>
          <a:p>
            <a:r>
              <a:rPr lang="en-US" sz="1800" dirty="0"/>
              <a:t>The tools' ability to interact with the service through the MCP directly and via the agent.</a:t>
            </a:r>
          </a:p>
          <a:p>
            <a:r>
              <a:rPr lang="en-US" sz="1800" dirty="0"/>
              <a:t>Test strategy to determine whether the data returned </a:t>
            </a:r>
            <a:r>
              <a:rPr lang="en-US" sz="1800"/>
              <a:t>is accurate.</a:t>
            </a:r>
            <a:endParaRPr lang="en-US" sz="180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05D81A8-0B3F-5D5B-28C4-A67E82B25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000" b="1" dirty="0"/>
              <a:t>Resources:</a:t>
            </a:r>
          </a:p>
          <a:p>
            <a:r>
              <a:rPr lang="en-US" sz="1800" dirty="0"/>
              <a:t>MCP framework, LLM, AI Agent Framework, Ui Framework, Docker for running the agent locally, NLP (</a:t>
            </a:r>
            <a:r>
              <a:rPr lang="en-US" sz="1800" dirty="0" err="1"/>
              <a:t>langchain</a:t>
            </a:r>
            <a:r>
              <a:rPr lang="en-US" sz="1800" dirty="0"/>
              <a:t>?)</a:t>
            </a:r>
          </a:p>
          <a:p>
            <a:pPr marL="0" indent="0">
              <a:buNone/>
            </a:pPr>
            <a:r>
              <a:rPr lang="en-US" sz="2000" b="1" dirty="0"/>
              <a:t>Risks and Opportunities:</a:t>
            </a:r>
          </a:p>
          <a:p>
            <a:r>
              <a:rPr lang="en-US" sz="1800" dirty="0"/>
              <a:t>The risks are around governance and safety</a:t>
            </a:r>
          </a:p>
          <a:p>
            <a:r>
              <a:rPr lang="en-US" sz="1800" dirty="0"/>
              <a:t>The opportunities are: makes complex systems accessible with natural language</a:t>
            </a:r>
          </a:p>
          <a:p>
            <a:pPr marL="0" indent="0">
              <a:buNone/>
            </a:pPr>
            <a:r>
              <a:rPr lang="en-US" sz="2000" b="1" dirty="0"/>
              <a:t>Key Milestones:</a:t>
            </a:r>
          </a:p>
          <a:p>
            <a:r>
              <a:rPr lang="en-US" sz="1800" dirty="0"/>
              <a:t>Creation of MCP Server</a:t>
            </a:r>
          </a:p>
          <a:p>
            <a:r>
              <a:rPr lang="en-US" sz="1800" dirty="0"/>
              <a:t>Creation of the AI Agent</a:t>
            </a:r>
          </a:p>
          <a:p>
            <a:r>
              <a:rPr lang="en-US" sz="1800" dirty="0"/>
              <a:t>Creation of the Chat Interface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C5E551-9F84-4D90-EA9E-130F1392BE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Hengyu</a:t>
            </a:r>
            <a:r>
              <a:rPr lang="en-US" dirty="0"/>
              <a:t> Liu, Joshua Joubert, and Maurisa Dacosta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4F0E4B-68FD-3537-B13B-1D3DE020D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325" y="1507008"/>
            <a:ext cx="2841956" cy="189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434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5e1d76e6ed25a0b9acc172e1212e12c5ea2ecb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WPI-White</Template>
  <TotalTime>50458</TotalTime>
  <Words>288</Words>
  <Application>Microsoft Macintosh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Custom Design</vt:lpstr>
      <vt:lpstr>Model Context Protocol Integration with Service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 LaRowe</dc:creator>
  <cp:lastModifiedBy>Joubert, Joshua</cp:lastModifiedBy>
  <cp:revision>37</cp:revision>
  <cp:lastPrinted>2023-02-14T12:46:00Z</cp:lastPrinted>
  <dcterms:created xsi:type="dcterms:W3CDTF">2024-08-23T19:49:59Z</dcterms:created>
  <dcterms:modified xsi:type="dcterms:W3CDTF">2026-01-22T17:37:40Z</dcterms:modified>
</cp:coreProperties>
</file>